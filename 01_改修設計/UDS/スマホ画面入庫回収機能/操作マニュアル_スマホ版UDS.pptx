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685800"/>
            <a:ext cx="146304" cy="146304"/>
          </a:xfrm>
          <a:prstGeom prst="roundRect">
            <a:avLst>
              <a:gd name="adj" fmla="val 20000"/>
            </a:avLst>
          </a:prstGeom>
          <a:solidFill>
            <a:srgbClr val="2E6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943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64D8B"/>
                </a:solidFill>
                <a:latin typeface="游ゴシック"/>
              </a:rPr>
              <a:t>USEN NEXT HOLDINGS ／ UDS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105156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>
                <a:solidFill>
                  <a:srgbClr val="172233"/>
                </a:solidFill>
                <a:latin typeface="游ゴシック"/>
              </a:rPr>
              <a:t>スマホ版UDS 操作マニュアル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8686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4B5A70"/>
                </a:solidFill>
                <a:latin typeface="游ゴシック"/>
              </a:rPr>
              <a:t>支店在庫の入庫処理と端末回収登録を、PCを開かずスマホだけでその場で完結させるための手順書です。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805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B5A70"/>
                </a:solidFill>
                <a:latin typeface="游ゴシック"/>
              </a:rPr>
              <a:t>対象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7316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72233"/>
                </a:solidFill>
                <a:latin typeface="游ゴシック"/>
              </a:rPr>
              <a:t>支店の担当者（誰でも操作可）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44805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B5A70"/>
                </a:solidFill>
                <a:latin typeface="游ゴシック"/>
              </a:rPr>
              <a:t>所要時間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477316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72233"/>
                </a:solidFill>
                <a:latin typeface="游ゴシック"/>
              </a:rPr>
              <a:t>端末1台あたり約10秒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44805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4B5A70"/>
                </a:solidFill>
                <a:latin typeface="游ゴシック"/>
              </a:rPr>
              <a:t>必要なもの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77316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72233"/>
                </a:solidFill>
                <a:latin typeface="游ゴシック"/>
              </a:rPr>
              <a:t>社用iPhone・VPN接続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30352"/>
            <a:ext cx="292608" cy="1"/>
          </a:xfrm>
          <a:prstGeom prst="roundRect">
            <a:avLst>
              <a:gd name="adj" fmla="val 50000"/>
            </a:avLst>
          </a:prstGeom>
          <a:solidFill>
            <a:srgbClr val="2E6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E6FDB"/>
                </a:solidFill>
                <a:latin typeface="游ゴシック"/>
              </a:rPr>
              <a:t>はじめに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72233"/>
                </a:solidFill>
                <a:latin typeface="游ゴシック"/>
              </a:rPr>
              <a:t>PCを開かずに、その場で終わらせる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B5A70"/>
                </a:solidFill>
                <a:latin typeface="游ゴシック"/>
              </a:rPr>
              <a:t>これまでの支店在庫入庫は、担当者が帰社してからUDSにログインし、1台ずつバーコードを読み取る夜間作業でした。スマホ版UDSなら、荷物を受け取ったその場で、誰でもスマホから処理できます。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31920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B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416052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EA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游ゴシック"/>
              </a:rPr>
              <a:t>入庫処理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6344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72233"/>
                </a:solidFill>
                <a:latin typeface="游ゴシック"/>
              </a:rPr>
              <a:t>支店在庫入庫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66360"/>
            <a:ext cx="4663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B5A70"/>
                </a:solidFill>
                <a:latin typeface="游ゴシック"/>
              </a:rPr>
              <a:t>支店に届いた端末を、まとめてバーコードスキャン→一括で入庫登録。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931920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B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0" y="416052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2E6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游ゴシック"/>
              </a:rPr>
              <a:t>端末回収登録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66344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72233"/>
                </a:solidFill>
                <a:latin typeface="游ゴシック"/>
              </a:rPr>
              <a:t>回収済み登録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5166360"/>
            <a:ext cx="4663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B5A70"/>
                </a:solidFill>
                <a:latin typeface="游ゴシック"/>
              </a:rPr>
              <a:t>回収依頼が出ている端末を、その場でスキャンして回収済みに更新。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30352"/>
            <a:ext cx="292608" cy="1"/>
          </a:xfrm>
          <a:prstGeom prst="roundRect">
            <a:avLst>
              <a:gd name="adj" fmla="val 50000"/>
            </a:avLst>
          </a:prstGeom>
          <a:solidFill>
            <a:srgbClr val="2E6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E6FDB"/>
                </a:solidFill>
                <a:latin typeface="游ゴシック"/>
              </a:rPr>
              <a:t>はじめる前に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72233"/>
                </a:solidFill>
                <a:latin typeface="游ゴシック"/>
              </a:rPr>
              <a:t>3つだけ準備してください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987552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212848"/>
            <a:ext cx="457200" cy="457200"/>
          </a:xfrm>
          <a:prstGeom prst="ellipse">
            <a:avLst/>
          </a:prstGeom>
          <a:solidFill>
            <a:srgbClr val="264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  <a:latin typeface="游ゴシック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993392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72233"/>
                </a:solidFill>
                <a:latin typeface="游ゴシック"/>
              </a:rPr>
              <a:t>社用iPhoneでVPN（AnyConnect）に接続する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395728"/>
            <a:ext cx="8595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B5A70"/>
                </a:solidFill>
                <a:latin typeface="游ゴシック"/>
              </a:rPr>
              <a:t>社内ネットワークに接続していないと、スマホ版UDSにアクセスできません。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91840"/>
            <a:ext cx="987552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3675888"/>
            <a:ext cx="457200" cy="457200"/>
          </a:xfrm>
          <a:prstGeom prst="ellipse">
            <a:avLst/>
          </a:prstGeom>
          <a:solidFill>
            <a:srgbClr val="264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  <a:latin typeface="游ゴシック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456432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72233"/>
                </a:solidFill>
                <a:latin typeface="游ゴシック"/>
              </a:rPr>
              <a:t>支店に掲示されたQRコードを用意する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858768"/>
            <a:ext cx="8595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B5A70"/>
                </a:solidFill>
                <a:latin typeface="游ゴシック"/>
              </a:rPr>
              <a:t>QRコードは支店ごとに専用です。他支店のQRコードは絶対に使用しないでください。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54880"/>
            <a:ext cx="987552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5138928"/>
            <a:ext cx="457200" cy="457200"/>
          </a:xfrm>
          <a:prstGeom prst="ellipse">
            <a:avLst/>
          </a:prstGeom>
          <a:solidFill>
            <a:srgbClr val="264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  <a:latin typeface="游ゴシック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919472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72233"/>
                </a:solidFill>
                <a:latin typeface="游ゴシック"/>
              </a:rPr>
              <a:t>対象端末を手元に用意する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5321808"/>
            <a:ext cx="8595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B5A70"/>
                </a:solidFill>
                <a:latin typeface="游ゴシック"/>
              </a:rPr>
              <a:t>入庫する端末、または回収する端末の外箱・本体のバーコードが読み取れる状態にしておきます。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30352"/>
            <a:ext cx="292608" cy="1"/>
          </a:xfrm>
          <a:prstGeom prst="roundRect">
            <a:avLst>
              <a:gd name="adj" fmla="val 50000"/>
            </a:avLst>
          </a:prstGeom>
          <a:solidFill>
            <a:srgbClr val="2E6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E6FDB"/>
                </a:solidFill>
                <a:latin typeface="游ゴシック"/>
              </a:rPr>
              <a:t>STEP 1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72233"/>
                </a:solidFill>
                <a:latin typeface="游ゴシック"/>
              </a:rPr>
              <a:t>QRコードを読み取る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0350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B5A70"/>
                </a:solidFill>
                <a:latin typeface="游ゴシック"/>
              </a:rPr>
              <a:t>支店に掲示されているQRコードを、iPhoneのカメラで読み取ります。表示された通知（リンク）をタップすると、スマホ版UDSが開きます。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60350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>
                <a:solidFill>
                  <a:srgbClr val="4B5A70"/>
                </a:solidFill>
                <a:latin typeface="游ゴシック"/>
              </a:rPr>
              <a:t>・ログインは不要です。QRコードを読み取るだけでアクセスできます。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>
                <a:solidFill>
                  <a:srgbClr val="4B5A70"/>
                </a:solidFill>
                <a:latin typeface="游ゴシック"/>
              </a:rPr>
              <a:t>・ブックマークせず、毎回QRコードから開くようにしてください。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2377440"/>
            <a:ext cx="1828800" cy="1828800"/>
          </a:xfrm>
          <a:prstGeom prst="roundRect">
            <a:avLst>
              <a:gd name="adj" fmla="val 12000"/>
            </a:avLst>
          </a:prstGeom>
          <a:solidFill>
            <a:srgbClr val="17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9016" y="2514600"/>
            <a:ext cx="256032" cy="256032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50808" y="2514600"/>
            <a:ext cx="256032" cy="256032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061704" y="2514600"/>
            <a:ext cx="256032" cy="256032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39912" y="2825496"/>
            <a:ext cx="256032" cy="256032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18120" y="3136392"/>
            <a:ext cx="256032" cy="256032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9016" y="3136392"/>
            <a:ext cx="256032" cy="256032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39912" y="3136392"/>
            <a:ext cx="256032" cy="256032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50808" y="3136392"/>
            <a:ext cx="256032" cy="256032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61704" y="3136392"/>
            <a:ext cx="256032" cy="256032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29016" y="3447288"/>
            <a:ext cx="256032" cy="256032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39912" y="3447288"/>
            <a:ext cx="256032" cy="256032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50808" y="3447288"/>
            <a:ext cx="256032" cy="256032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61704" y="3447288"/>
            <a:ext cx="256032" cy="256032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18120" y="3758184"/>
            <a:ext cx="256032" cy="256032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39912" y="3758184"/>
            <a:ext cx="256032" cy="256032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50808" y="3758184"/>
            <a:ext cx="256032" cy="256032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46920" y="2880360"/>
            <a:ext cx="548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2E6FDB"/>
                </a:solidFill>
                <a:latin typeface="游ゴシック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87000" y="2194560"/>
            <a:ext cx="1188720" cy="2194560"/>
          </a:xfrm>
          <a:prstGeom prst="roundRect">
            <a:avLst>
              <a:gd name="adj" fmla="val 18000"/>
            </a:avLst>
          </a:prstGeom>
          <a:solidFill>
            <a:srgbClr val="17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360152" y="2286000"/>
            <a:ext cx="1042415" cy="2011680"/>
          </a:xfrm>
          <a:prstGeom prst="roundRect">
            <a:avLst>
              <a:gd name="adj" fmla="val 16000"/>
            </a:avLst>
          </a:prstGeom>
          <a:solidFill>
            <a:srgbClr val="264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60152" y="3063240"/>
            <a:ext cx="1042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0">
                <a:solidFill>
                  <a:srgbClr val="172233"/>
                </a:solidFill>
                <a:latin typeface="游ゴシック"/>
              </a:rPr>
              <a:t>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30352"/>
            <a:ext cx="292608" cy="1"/>
          </a:xfrm>
          <a:prstGeom prst="roundRect">
            <a:avLst>
              <a:gd name="adj" fmla="val 50000"/>
            </a:avLst>
          </a:prstGeom>
          <a:solidFill>
            <a:srgbClr val="2E6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E6FDB"/>
                </a:solidFill>
                <a:latin typeface="游ゴシック"/>
              </a:rPr>
              <a:t>STEP 2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72233"/>
                </a:solidFill>
                <a:latin typeface="游ゴシック"/>
              </a:rPr>
              <a:t>支店名を確認する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0350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B5A70"/>
                </a:solidFill>
                <a:latin typeface="游ゴシック"/>
              </a:rPr>
              <a:t>画面に表示された支店名が、いま自分がいる支店と一致しているか、必ず確認してください。一致していれば「入庫処理」または「端末回収登録」に進みます。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84632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EBEEF5"/>
          </a:solidFill>
          <a:ln w="9525">
            <a:solidFill>
              <a:srgbClr val="DB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 bIns="164592"/>
          <a:lstStyle/>
          <a:p>
            <a:pPr algn="ctr">
              <a:lnSpc>
                <a:spcPct val="130000"/>
              </a:lnSpc>
            </a:pPr>
            <a:r>
              <a:rPr b="1" sz="1300">
                <a:solidFill>
                  <a:srgbClr val="C97A16"/>
                </a:solidFill>
                <a:latin typeface="游ゴシック"/>
              </a:rPr>
              <a:t>支店名が表示されずエラーになったら
</a:t>
            </a:r>
            <a:r>
              <a:rPr sz="1250">
                <a:solidFill>
                  <a:srgbClr val="4B5A70"/>
                </a:solidFill>
                <a:latin typeface="游ゴシック"/>
              </a:rPr>
              <a:t>QRコードが読み取れていないか、無効なコードです。QRコードを読み直しても解消しない場合は、開発担当に連絡してください。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777240"/>
            <a:ext cx="2651760" cy="5120640"/>
          </a:xfrm>
          <a:prstGeom prst="roundRect">
            <a:avLst>
              <a:gd name="adj" fmla="val 12000"/>
            </a:avLst>
          </a:prstGeom>
          <a:solidFill>
            <a:srgbClr val="17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46136" y="859536"/>
            <a:ext cx="2487168" cy="4956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46136" y="859536"/>
            <a:ext cx="2487168" cy="777240"/>
          </a:xfrm>
          <a:prstGeom prst="rect">
            <a:avLst/>
          </a:prstGeom>
          <a:solidFill>
            <a:srgbClr val="264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0" y="1024128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E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游ゴシック"/>
              </a:rPr>
              <a:t>UDS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46136" y="1956816"/>
            <a:ext cx="2487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B5A70"/>
                </a:solidFill>
                <a:latin typeface="游ゴシック"/>
              </a:rPr>
              <a:t>支店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6136" y="2203704"/>
            <a:ext cx="2487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72233"/>
                </a:solidFill>
                <a:latin typeface="游ゴシック"/>
              </a:rPr>
              <a:t>東京南支店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129016" y="2825496"/>
            <a:ext cx="2121408" cy="0"/>
          </a:xfrm>
          <a:prstGeom prst="line">
            <a:avLst/>
          </a:prstGeom>
          <a:ln>
            <a:solidFill>
              <a:srgbClr val="DB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46136" y="2962656"/>
            <a:ext cx="2487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B5A70"/>
                </a:solidFill>
                <a:latin typeface="游ゴシック"/>
              </a:rPr>
              <a:t>処理を選択してください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74736" y="3465576"/>
            <a:ext cx="2029968" cy="502920"/>
          </a:xfrm>
          <a:prstGeom prst="roundRect">
            <a:avLst>
              <a:gd name="adj" fmla="val 50000"/>
            </a:avLst>
          </a:prstGeom>
          <a:solidFill>
            <a:srgbClr val="0EA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游ゴシック"/>
              </a:rPr>
              <a:t>入庫処理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74736" y="4105656"/>
            <a:ext cx="2029968" cy="502920"/>
          </a:xfrm>
          <a:prstGeom prst="roundRect">
            <a:avLst>
              <a:gd name="adj" fmla="val 50000"/>
            </a:avLst>
          </a:prstGeom>
          <a:solidFill>
            <a:srgbClr val="2E6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游ゴシック"/>
              </a:rPr>
              <a:t>端末回収登録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30352"/>
            <a:ext cx="292608" cy="1"/>
          </a:xfrm>
          <a:prstGeom prst="roundRect">
            <a:avLst>
              <a:gd name="adj" fmla="val 50000"/>
            </a:avLst>
          </a:prstGeom>
          <a:solidFill>
            <a:srgbClr val="2E6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E6FDB"/>
                </a:solidFill>
                <a:latin typeface="游ゴシック"/>
              </a:rPr>
              <a:t>STEP 3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72233"/>
                </a:solidFill>
                <a:latin typeface="游ゴシック"/>
              </a:rPr>
              <a:t>どちらの処理か選ぶ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21208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B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20" y="2103120"/>
            <a:ext cx="1280160" cy="384048"/>
          </a:xfrm>
          <a:prstGeom prst="roundRect">
            <a:avLst>
              <a:gd name="adj" fmla="val 50000"/>
            </a:avLst>
          </a:prstGeom>
          <a:solidFill>
            <a:srgbClr val="0EA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游ゴシック"/>
              </a:rPr>
              <a:t>緑ボタン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5176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72233"/>
                </a:solidFill>
                <a:latin typeface="游ゴシック"/>
              </a:rPr>
              <a:t>入庫処理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20040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4B5A70"/>
                </a:solidFill>
                <a:latin typeface="游ゴシック"/>
              </a:rPr>
              <a:t>支店に届いた端末を在庫として登録する、または新設出荷された端末を設置完了として登録する処理です。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60120" y="5120640"/>
            <a:ext cx="4572000" cy="0"/>
          </a:xfrm>
          <a:prstGeom prst="line">
            <a:avLst/>
          </a:prstGeom>
          <a:ln>
            <a:solidFill>
              <a:srgbClr val="DB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0120" y="525780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72233"/>
                </a:solidFill>
                <a:latin typeface="游ゴシック"/>
              </a:rPr>
              <a:t>対象：支店在庫出庫・通常新設出庫ステータスの端末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828800"/>
            <a:ext cx="521208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B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29400" y="2103120"/>
            <a:ext cx="1280160" cy="384048"/>
          </a:xfrm>
          <a:prstGeom prst="roundRect">
            <a:avLst>
              <a:gd name="adj" fmla="val 50000"/>
            </a:avLst>
          </a:prstGeom>
          <a:solidFill>
            <a:srgbClr val="2E6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游ゴシック"/>
              </a:rPr>
              <a:t>青ボタン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65176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72233"/>
                </a:solidFill>
                <a:latin typeface="游ゴシック"/>
              </a:rPr>
              <a:t>端末回収登録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20040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4B5A70"/>
                </a:solidFill>
                <a:latin typeface="游ゴシック"/>
              </a:rPr>
              <a:t>すでに回収依頼が出ている端末を、回収済みステータスに更新する処理です。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5120640"/>
            <a:ext cx="4572000" cy="0"/>
          </a:xfrm>
          <a:prstGeom prst="line">
            <a:avLst/>
          </a:prstGeom>
          <a:ln>
            <a:solidFill>
              <a:srgbClr val="DB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629400" y="525780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72233"/>
                </a:solidFill>
                <a:latin typeface="游ゴシック"/>
              </a:rPr>
              <a:t>対象：回収依頼中・回収不可ステータスの端末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30352"/>
            <a:ext cx="292608" cy="1"/>
          </a:xfrm>
          <a:prstGeom prst="roundRect">
            <a:avLst>
              <a:gd name="adj" fmla="val 50000"/>
            </a:avLst>
          </a:prstGeom>
          <a:solidFill>
            <a:srgbClr val="2E6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E6FDB"/>
                </a:solidFill>
                <a:latin typeface="游ゴシック"/>
              </a:rPr>
              <a:t>STEP 4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72233"/>
                </a:solidFill>
                <a:latin typeface="游ゴシック"/>
              </a:rPr>
              <a:t>端末のバーコードを読み取る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0350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B5A70"/>
                </a:solidFill>
                <a:latin typeface="游ゴシック"/>
              </a:rPr>
              <a:t>「バーコードを読み取る」をタップしてカメラを起動し、端末のバーコードにかざします。読み取れると振動して一覧に追加されるので、複数台ある場合は続けて読み取ってください。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60350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>
                <a:solidFill>
                  <a:srgbClr val="4B5A70"/>
                </a:solidFill>
                <a:latin typeface="游ゴシック"/>
              </a:rPr>
              <a:t>・同じ端末を2回読み取ると「すでに読み取り済みです」と表示され、追加されません。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>
                <a:solidFill>
                  <a:srgbClr val="4B5A70"/>
                </a:solidFill>
                <a:latin typeface="游ゴシック"/>
              </a:rPr>
              <a:t>・読み間違えた場合は、一覧の「✕」で1件だけ削除できます。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>
                <a:solidFill>
                  <a:srgbClr val="4B5A70"/>
                </a:solidFill>
                <a:latin typeface="游ゴシック"/>
              </a:rPr>
              <a:t>・バーコードにピントが合わないときは、少し距離を離すか明るい場所で試してください。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777240"/>
            <a:ext cx="2651760" cy="5120640"/>
          </a:xfrm>
          <a:prstGeom prst="roundRect">
            <a:avLst>
              <a:gd name="adj" fmla="val 12000"/>
            </a:avLst>
          </a:prstGeom>
          <a:solidFill>
            <a:srgbClr val="17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46136" y="859536"/>
            <a:ext cx="2487168" cy="4956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46136" y="859536"/>
            <a:ext cx="2487168" cy="777240"/>
          </a:xfrm>
          <a:prstGeom prst="rect">
            <a:avLst/>
          </a:prstGeom>
          <a:solidFill>
            <a:srgbClr val="264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0728" y="969264"/>
            <a:ext cx="2157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FFFFFF"/>
                </a:solidFill>
                <a:latin typeface="游ゴシック"/>
              </a:rPr>
              <a:t>‹ 戻る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FFFFFF"/>
                </a:solidFill>
                <a:latin typeface="游ゴシック"/>
              </a:rPr>
              <a:t>東京南支店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FFFFFF"/>
                </a:solidFill>
                <a:latin typeface="游ゴシック"/>
              </a:rPr>
              <a:t>入庫処理</a:t>
            </a:r>
          </a:p>
        </p:txBody>
      </p:sp>
      <p:sp>
        <p:nvSpPr>
          <p:cNvPr id="12" name="Oval 11"/>
          <p:cNvSpPr/>
          <p:nvPr/>
        </p:nvSpPr>
        <p:spPr>
          <a:xfrm>
            <a:off x="8805672" y="1819656"/>
            <a:ext cx="768096" cy="768096"/>
          </a:xfrm>
          <a:prstGeom prst="ellipse">
            <a:avLst/>
          </a:prstGeom>
          <a:solidFill>
            <a:srgbClr val="2E6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46136" y="2642616"/>
            <a:ext cx="2487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B5A70"/>
                </a:solidFill>
                <a:latin typeface="游ゴシック"/>
              </a:rPr>
              <a:t>バーコードを読み取る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9016" y="3054096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B5A70"/>
                </a:solidFill>
                <a:latin typeface="游ゴシック"/>
              </a:rPr>
              <a:t>読み取り済み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9016" y="3054096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172233"/>
                </a:solidFill>
                <a:latin typeface="游ゴシック"/>
              </a:rPr>
              <a:t>2件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9016" y="3419856"/>
            <a:ext cx="2121408" cy="384048"/>
          </a:xfrm>
          <a:prstGeom prst="roundRect">
            <a:avLst>
              <a:gd name="adj" fmla="val 35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>
                <a:solidFill>
                  <a:srgbClr val="172233"/>
                </a:solidFill>
                <a:latin typeface="Consolas"/>
              </a:rPr>
              <a:t>URX0425800033        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9016" y="3877056"/>
            <a:ext cx="2121408" cy="384048"/>
          </a:xfrm>
          <a:prstGeom prst="roundRect">
            <a:avLst>
              <a:gd name="adj" fmla="val 35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>
                <a:solidFill>
                  <a:srgbClr val="172233"/>
                </a:solidFill>
                <a:latin typeface="Consolas"/>
              </a:rPr>
              <a:t>HU211003226              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9016" y="4562856"/>
            <a:ext cx="2121408" cy="502920"/>
          </a:xfrm>
          <a:prstGeom prst="roundRect">
            <a:avLst>
              <a:gd name="adj" fmla="val 50000"/>
            </a:avLst>
          </a:prstGeom>
          <a:solidFill>
            <a:srgbClr val="0EA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游ゴシック"/>
              </a:rPr>
              <a:t>入庫処理する（2件）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30352"/>
            <a:ext cx="292608" cy="1"/>
          </a:xfrm>
          <a:prstGeom prst="roundRect">
            <a:avLst>
              <a:gd name="adj" fmla="val 50000"/>
            </a:avLst>
          </a:prstGeom>
          <a:solidFill>
            <a:srgbClr val="2E6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E6FDB"/>
                </a:solidFill>
                <a:latin typeface="游ゴシック"/>
              </a:rPr>
              <a:t>STEP 5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72233"/>
                </a:solidFill>
                <a:latin typeface="游ゴシック"/>
              </a:rPr>
              <a:t>まとめて1回で実行する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0350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B5A70"/>
                </a:solidFill>
                <a:latin typeface="游ゴシック"/>
              </a:rPr>
              <a:t>読み取った台数分をまとめて、ボタンを1回押すだけで処理が実行されます。1台ずつ確定操作をする必要はありません。ボタンには件数が表示されるので、読み取り漏れがないか確認してから押してくださ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84632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EBEEF5"/>
          </a:solidFill>
          <a:ln w="9525">
            <a:solidFill>
              <a:srgbClr val="DB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 bIns="164592"/>
          <a:lstStyle/>
          <a:p>
            <a:pPr algn="ctr">
              <a:lnSpc>
                <a:spcPct val="130000"/>
              </a:lnSpc>
            </a:pPr>
            <a:r>
              <a:rPr b="1" sz="1300">
                <a:solidFill>
                  <a:srgbClr val="172233"/>
                </a:solidFill>
                <a:latin typeface="游ゴシック"/>
              </a:rPr>
              <a:t>確認ダイアログは出ません。
</a:t>
            </a:r>
            <a:r>
              <a:rPr sz="1250">
                <a:solidFill>
                  <a:srgbClr val="4B5A70"/>
                </a:solidFill>
                <a:latin typeface="游ゴシック"/>
              </a:rPr>
              <a:t>ボタンを押すとすぐに処理が実行されるため、一覧の内容を確認してからタップしてください。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777240"/>
            <a:ext cx="2651760" cy="5120640"/>
          </a:xfrm>
          <a:prstGeom prst="roundRect">
            <a:avLst>
              <a:gd name="adj" fmla="val 12000"/>
            </a:avLst>
          </a:prstGeom>
          <a:solidFill>
            <a:srgbClr val="17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46136" y="859536"/>
            <a:ext cx="2487168" cy="4956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46136" y="859536"/>
            <a:ext cx="2487168" cy="777240"/>
          </a:xfrm>
          <a:prstGeom prst="rect">
            <a:avLst/>
          </a:prstGeom>
          <a:solidFill>
            <a:srgbClr val="264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0728" y="969264"/>
            <a:ext cx="2157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FFFFFF"/>
                </a:solidFill>
                <a:latin typeface="游ゴシック"/>
              </a:rPr>
              <a:t>‹ 戻る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FFFFFF"/>
                </a:solidFill>
                <a:latin typeface="游ゴシック"/>
              </a:rPr>
              <a:t>東京南支店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FFFFFF"/>
                </a:solidFill>
                <a:latin typeface="游ゴシック"/>
              </a:rPr>
              <a:t>入庫処理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9016" y="1911096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B5A70"/>
                </a:solidFill>
                <a:latin typeface="游ゴシック"/>
              </a:rPr>
              <a:t>読み取り済み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9016" y="1911096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172233"/>
                </a:solidFill>
                <a:latin typeface="游ゴシック"/>
              </a:rPr>
              <a:t>3件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9016" y="2276856"/>
            <a:ext cx="2121408" cy="365760"/>
          </a:xfrm>
          <a:prstGeom prst="roundRect">
            <a:avLst>
              <a:gd name="adj" fmla="val 35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>
                <a:solidFill>
                  <a:srgbClr val="172233"/>
                </a:solidFill>
                <a:latin typeface="Consolas"/>
              </a:rPr>
              <a:t>URX0425800033        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9016" y="2697480"/>
            <a:ext cx="2121408" cy="365760"/>
          </a:xfrm>
          <a:prstGeom prst="roundRect">
            <a:avLst>
              <a:gd name="adj" fmla="val 35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>
                <a:solidFill>
                  <a:srgbClr val="172233"/>
                </a:solidFill>
                <a:latin typeface="Consolas"/>
              </a:rPr>
              <a:t>HU211003226              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9016" y="3118104"/>
            <a:ext cx="2121408" cy="365760"/>
          </a:xfrm>
          <a:prstGeom prst="roundRect">
            <a:avLst>
              <a:gd name="adj" fmla="val 35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>
                <a:solidFill>
                  <a:srgbClr val="172233"/>
                </a:solidFill>
                <a:latin typeface="Consolas"/>
              </a:rPr>
              <a:t>TEST234                     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29016" y="4288536"/>
            <a:ext cx="2121408" cy="548640"/>
          </a:xfrm>
          <a:prstGeom prst="roundRect">
            <a:avLst>
              <a:gd name="adj" fmla="val 50000"/>
            </a:avLst>
          </a:prstGeom>
          <a:solidFill>
            <a:srgbClr val="0EA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游ゴシック"/>
              </a:rPr>
              <a:t>入庫処理する（3件）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30352"/>
            <a:ext cx="292608" cy="1"/>
          </a:xfrm>
          <a:prstGeom prst="roundRect">
            <a:avLst>
              <a:gd name="adj" fmla="val 50000"/>
            </a:avLst>
          </a:prstGeom>
          <a:solidFill>
            <a:srgbClr val="2E6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E6FDB"/>
                </a:solidFill>
                <a:latin typeface="游ゴシック"/>
              </a:rPr>
              <a:t>STEP 6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72233"/>
                </a:solidFill>
                <a:latin typeface="游ゴシック"/>
              </a:rPr>
              <a:t>結果を確認する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B5A70"/>
                </a:solidFill>
                <a:latin typeface="游ゴシック"/>
              </a:rPr>
              <a:t>実行すると、成功・エラー・要案内の3パターンで結果が表示されます。成功した分はそのまま確定されるので、エラーの端末だけ確認すれば大丈夫です。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51760"/>
            <a:ext cx="342900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B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288036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0EA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游ゴシック"/>
              </a:rPr>
              <a:t>成功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337560"/>
            <a:ext cx="29169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172233"/>
                </a:solidFill>
                <a:latin typeface="游ゴシック"/>
              </a:rPr>
              <a:t>✓ 処理が完了しました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977639"/>
            <a:ext cx="2916936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B5A70"/>
                </a:solidFill>
                <a:latin typeface="游ゴシック"/>
              </a:rPr>
              <a:t>読み取った端末の登録が完了しています。特に対応は不要です。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2651760"/>
            <a:ext cx="342900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B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81144" y="288036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D84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游ゴシック"/>
              </a:rPr>
              <a:t>エラー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3337560"/>
            <a:ext cx="29169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172233"/>
                </a:solidFill>
                <a:latin typeface="游ゴシック"/>
              </a:rPr>
              <a:t>⚠ 一部の処理に失敗しました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3977639"/>
            <a:ext cx="2916936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B5A70"/>
                </a:solidFill>
                <a:latin typeface="游ゴシック"/>
              </a:rPr>
              <a:t>エラーの端末とメッセージが表示されます。「続けて処理する」で再度スキャンしてやり直せます。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2651760"/>
            <a:ext cx="342900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B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66176" y="288036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2E6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游ゴシック"/>
              </a:rPr>
              <a:t>要案内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3337560"/>
            <a:ext cx="29169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172233"/>
                </a:solidFill>
                <a:latin typeface="游ゴシック"/>
              </a:rPr>
              <a:t>要確認の端末があります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6" y="3977639"/>
            <a:ext cx="2916936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B5A70"/>
                </a:solidFill>
                <a:latin typeface="游ゴシック"/>
              </a:rPr>
              <a:t>エラーではありませんが、そのまま処理できない端末です。案内に従って担当者に確認してください。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30352"/>
            <a:ext cx="292608" cy="1"/>
          </a:xfrm>
          <a:prstGeom prst="roundRect">
            <a:avLst>
              <a:gd name="adj" fmla="val 50000"/>
            </a:avLst>
          </a:prstGeom>
          <a:solidFill>
            <a:srgbClr val="2E6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E6FDB"/>
                </a:solidFill>
                <a:latin typeface="游ゴシック"/>
              </a:rPr>
              <a:t>困ったときのリファレンス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72233"/>
                </a:solidFill>
                <a:latin typeface="游ゴシック"/>
              </a:rPr>
              <a:t>エラー・要案内メッセージの見方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64240" cy="5065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3200400"/>
                <a:gridCol w="2926080"/>
              </a:tblGrid>
              <a:tr h="457200"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4B5A70"/>
                          </a:solidFill>
                          <a:latin typeface="游ゴシック"/>
                        </a:rPr>
                        <a:t>表示されるメッセージ</a:t>
                      </a:r>
                    </a:p>
                  </a:txBody>
                  <a:tcPr anchor="ctr">
                    <a:solidFill>
                      <a:srgbClr val="EB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4B5A70"/>
                          </a:solidFill>
                          <a:latin typeface="游ゴシック"/>
                        </a:rPr>
                        <a:t>主な原因</a:t>
                      </a:r>
                    </a:p>
                  </a:txBody>
                  <a:tcPr anchor="ctr">
                    <a:solidFill>
                      <a:srgbClr val="EB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50">
                          <a:solidFill>
                            <a:srgbClr val="4B5A70"/>
                          </a:solidFill>
                          <a:latin typeface="游ゴシック"/>
                        </a:rPr>
                        <a:t>対処方法</a:t>
                      </a:r>
                    </a:p>
                  </a:txBody>
                  <a:tcPr anchor="ctr">
                    <a:solidFill>
                      <a:srgbClr val="EBEE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000">
                          <a:solidFill>
                            <a:srgbClr val="D8433F"/>
                          </a:solidFill>
                          <a:latin typeface="游ゴシック"/>
                        </a:rPr>
                        <a:t>【エラー】 </a:t>
                      </a:r>
                    </a:p>
                    <a:p>
                      <a:pPr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72233"/>
                          </a:solidFill>
                          <a:latin typeface="游ゴシック"/>
                        </a:rPr>
                        <a:t>読み込んだシリアルNo.はシステムに登録されていないため、使用できません。</a:t>
                      </a:r>
                    </a:p>
                  </a:txBody>
                  <a:tcPr anchor="ctr" marT="76200" marB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B5A70"/>
                          </a:solidFill>
                          <a:latin typeface="游ゴシック"/>
                        </a:rPr>
                        <a:t>バーコードの読み取り間違い、またはシステムに登録のない端末</a:t>
                      </a:r>
                    </a:p>
                  </a:txBody>
                  <a:tcPr anchor="ctr" marT="76200" marB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B5A70"/>
                          </a:solidFill>
                          <a:latin typeface="游ゴシック"/>
                        </a:rPr>
                        <a:t>バーコードを再度読み取る。改善しなければ端末自体を確認</a:t>
                      </a:r>
                    </a:p>
                  </a:txBody>
                  <a:tcPr anchor="ctr" marT="76200" marB="762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000">
                          <a:solidFill>
                            <a:srgbClr val="D8433F"/>
                          </a:solidFill>
                          <a:latin typeface="游ゴシック"/>
                        </a:rPr>
                        <a:t>【エラー】 </a:t>
                      </a:r>
                    </a:p>
                    <a:p>
                      <a:pPr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72233"/>
                          </a:solidFill>
                          <a:latin typeface="游ゴシック"/>
                        </a:rPr>
                        <a:t>端末管理管轄が異なります。再度、端末をご確認ください。</a:t>
                      </a:r>
                    </a:p>
                  </a:txBody>
                  <a:tcPr anchor="ctr" marT="76200" marB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B5A70"/>
                          </a:solidFill>
                          <a:latin typeface="游ゴシック"/>
                        </a:rPr>
                        <a:t>今いる支店とは別の支店の端末を入庫しようとした</a:t>
                      </a:r>
                    </a:p>
                  </a:txBody>
                  <a:tcPr anchor="ctr" marT="76200" marB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B5A70"/>
                          </a:solidFill>
                          <a:latin typeface="游ゴシック"/>
                        </a:rPr>
                        <a:t>端末が正しい支店宛のものか確認する</a:t>
                      </a:r>
                    </a:p>
                  </a:txBody>
                  <a:tcPr anchor="ctr" marT="76200" marB="762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000">
                          <a:solidFill>
                            <a:srgbClr val="D8433F"/>
                          </a:solidFill>
                          <a:latin typeface="游ゴシック"/>
                        </a:rPr>
                        <a:t>【エラー】 </a:t>
                      </a:r>
                    </a:p>
                    <a:p>
                      <a:pPr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72233"/>
                          </a:solidFill>
                          <a:latin typeface="游ゴシック"/>
                        </a:rPr>
                        <a:t>端末情報が更新されました。お手数ですが、最初からやり直してください。</a:t>
                      </a:r>
                    </a:p>
                  </a:txBody>
                  <a:tcPr anchor="ctr" marT="76200" marB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B5A70"/>
                          </a:solidFill>
                          <a:latin typeface="游ゴシック"/>
                        </a:rPr>
                        <a:t>端末のステータスが処理対象外（回収依頼が出ていない等）</a:t>
                      </a:r>
                    </a:p>
                  </a:txBody>
                  <a:tcPr anchor="ctr" marT="76200" marB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B5A70"/>
                          </a:solidFill>
                          <a:latin typeface="游ゴシック"/>
                        </a:rPr>
                        <a:t>PC版で端末の状態・依頼状況を確認。不明な場合は担当者へ</a:t>
                      </a:r>
                    </a:p>
                  </a:txBody>
                  <a:tcPr anchor="ctr" marT="76200" marB="762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000">
                          <a:solidFill>
                            <a:srgbClr val="D8433F"/>
                          </a:solidFill>
                          <a:latin typeface="游ゴシック"/>
                        </a:rPr>
                        <a:t>【エラー】 </a:t>
                      </a:r>
                    </a:p>
                    <a:p>
                      <a:pPr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72233"/>
                          </a:solidFill>
                          <a:latin typeface="游ゴシック"/>
                        </a:rPr>
                        <a:t>契約情報が更新されました。お手数ですが、最初からやり直してください。</a:t>
                      </a:r>
                    </a:p>
                  </a:txBody>
                  <a:tcPr anchor="ctr" marT="76200" marB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B5A70"/>
                          </a:solidFill>
                          <a:latin typeface="游ゴシック"/>
                        </a:rPr>
                        <a:t>契約が「受注」ステータスではない</a:t>
                      </a:r>
                    </a:p>
                  </a:txBody>
                  <a:tcPr anchor="ctr" marT="76200" marB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B5A70"/>
                          </a:solidFill>
                          <a:latin typeface="游ゴシック"/>
                        </a:rPr>
                        <a:t>担当者に契約状況を確認してもらう</a:t>
                      </a:r>
                    </a:p>
                  </a:txBody>
                  <a:tcPr anchor="ctr" marT="76200" marB="762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000">
                          <a:solidFill>
                            <a:srgbClr val="D8433F"/>
                          </a:solidFill>
                          <a:latin typeface="游ゴシック"/>
                        </a:rPr>
                        <a:t>【エラー】 </a:t>
                      </a:r>
                    </a:p>
                    <a:p>
                      <a:pPr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72233"/>
                          </a:solidFill>
                          <a:latin typeface="游ゴシック"/>
                        </a:rPr>
                        <a:t>この端末はセット商品の一部です。残りの端末も同時にスキャンしてから実行してください。</a:t>
                      </a:r>
                    </a:p>
                  </a:txBody>
                  <a:tcPr anchor="ctr" marT="76200" marB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B5A70"/>
                          </a:solidFill>
                          <a:latin typeface="游ゴシック"/>
                        </a:rPr>
                        <a:t>セット商品のうち、まだ読み取っていない端末がある</a:t>
                      </a:r>
                    </a:p>
                  </a:txBody>
                  <a:tcPr anchor="ctr" marT="76200" marB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B5A70"/>
                          </a:solidFill>
                          <a:latin typeface="游ゴシック"/>
                        </a:rPr>
                        <a:t>表示された残りの端末もあわせてスキャンしてから再実行</a:t>
                      </a:r>
                    </a:p>
                  </a:txBody>
                  <a:tcPr anchor="ctr" marT="76200" marB="762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000">
                          <a:solidFill>
                            <a:srgbClr val="2E6FDB"/>
                          </a:solidFill>
                          <a:latin typeface="游ゴシック"/>
                        </a:rPr>
                        <a:t>【要案内】 </a:t>
                      </a:r>
                    </a:p>
                    <a:p>
                      <a:pPr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72233"/>
                          </a:solidFill>
                          <a:latin typeface="游ゴシック"/>
                        </a:rPr>
                        <a:t>この端末はキャンセル返却予定のため、処理できません。担当者にご確認ください。</a:t>
                      </a:r>
                    </a:p>
                  </a:txBody>
                  <a:tcPr anchor="ctr" marT="76200" marB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B5A70"/>
                          </a:solidFill>
                          <a:latin typeface="游ゴシック"/>
                        </a:rPr>
                        <a:t>契約がすでにキャンセルされている端末</a:t>
                      </a:r>
                    </a:p>
                  </a:txBody>
                  <a:tcPr anchor="ctr" marT="76200" marB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B5A70"/>
                          </a:solidFill>
                          <a:latin typeface="游ゴシック"/>
                        </a:rPr>
                        <a:t>エラーではないため処理は止まりません。返却方法を担当者に確認</a:t>
                      </a:r>
                    </a:p>
                  </a:txBody>
                  <a:tcPr anchor="ctr" marT="76200" marB="762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000">
                          <a:solidFill>
                            <a:srgbClr val="D8433F"/>
                          </a:solidFill>
                          <a:latin typeface="游ゴシック"/>
                        </a:rPr>
                        <a:t>【エラー】 </a:t>
                      </a:r>
                    </a:p>
                    <a:p>
                      <a:pPr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72233"/>
                          </a:solidFill>
                          <a:latin typeface="游ゴシック"/>
                        </a:rPr>
                        <a:t>システムエラーを検知したため、処理を中断しました。</a:t>
                      </a:r>
                    </a:p>
                  </a:txBody>
                  <a:tcPr anchor="ctr" marT="76200" marB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B5A70"/>
                          </a:solidFill>
                          <a:latin typeface="游ゴシック"/>
                        </a:rPr>
                        <a:t>通信状況やシステム側の一時的な問題</a:t>
                      </a:r>
                    </a:p>
                  </a:txBody>
                  <a:tcPr anchor="ctr" marT="76200" marB="762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B5A70"/>
                          </a:solidFill>
                          <a:latin typeface="游ゴシック"/>
                        </a:rPr>
                        <a:t>少し時間をおいて再実行。繰り返す場合は開発担当へ連絡</a:t>
                      </a:r>
                    </a:p>
                  </a:txBody>
                  <a:tcPr anchor="ctr" marT="76200" marB="762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30352"/>
            <a:ext cx="292608" cy="1"/>
          </a:xfrm>
          <a:prstGeom prst="roundRect">
            <a:avLst>
              <a:gd name="adj" fmla="val 50000"/>
            </a:avLst>
          </a:prstGeom>
          <a:solidFill>
            <a:srgbClr val="2E6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E6FDB"/>
                </a:solidFill>
                <a:latin typeface="游ゴシック"/>
              </a:rPr>
              <a:t>運用上の注意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72233"/>
                </a:solidFill>
                <a:latin typeface="游ゴシック"/>
              </a:rPr>
              <a:t>これだけは守ってください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987552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212848"/>
            <a:ext cx="457200" cy="457200"/>
          </a:xfrm>
          <a:prstGeom prst="ellipse">
            <a:avLst/>
          </a:prstGeom>
          <a:solidFill>
            <a:srgbClr val="C9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993392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72233"/>
                </a:solidFill>
                <a:latin typeface="游ゴシック"/>
              </a:rPr>
              <a:t>QRコードは支店ごとに専用です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395728"/>
            <a:ext cx="8595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B5A70"/>
                </a:solidFill>
                <a:latin typeface="游ゴシック"/>
              </a:rPr>
              <a:t>他支店のQRコードを使うと、別支店の端末として処理されてしまいます。必ず自分の支店のQRコードを使用してください。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91840"/>
            <a:ext cx="987552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3675888"/>
            <a:ext cx="457200" cy="457200"/>
          </a:xfrm>
          <a:prstGeom prst="ellipse">
            <a:avLst/>
          </a:prstGeom>
          <a:solidFill>
            <a:srgbClr val="C9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456432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72233"/>
                </a:solidFill>
                <a:latin typeface="游ゴシック"/>
              </a:rPr>
              <a:t>VPN接続を切らない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858768"/>
            <a:ext cx="8595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B5A70"/>
                </a:solidFill>
                <a:latin typeface="游ゴシック"/>
              </a:rPr>
              <a:t>AnyConnectが切断されると画面が表示できなくなります。作業中は接続状態を保ってください。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54880"/>
            <a:ext cx="987552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5138928"/>
            <a:ext cx="457200" cy="457200"/>
          </a:xfrm>
          <a:prstGeom prst="ellipse">
            <a:avLst/>
          </a:prstGeom>
          <a:solidFill>
            <a:srgbClr val="C97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919472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72233"/>
                </a:solidFill>
                <a:latin typeface="游ゴシック"/>
              </a:rPr>
              <a:t>カメラの使用を許可する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5321808"/>
            <a:ext cx="8595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4B5A70"/>
                </a:solidFill>
                <a:latin typeface="游ゴシック"/>
              </a:rPr>
              <a:t>初回アクセス時にカメラの許可を求められたら「許可」を選んでください。拒否するとバーコードを読み取れません。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30352"/>
            <a:ext cx="292608" cy="1"/>
          </a:xfrm>
          <a:prstGeom prst="roundRect">
            <a:avLst>
              <a:gd name="adj" fmla="val 50000"/>
            </a:avLst>
          </a:prstGeom>
          <a:solidFill>
            <a:srgbClr val="2E6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E6FDB"/>
                </a:solidFill>
                <a:latin typeface="游ゴシック"/>
              </a:rPr>
              <a:t>最後に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72233"/>
                </a:solidFill>
                <a:latin typeface="游ゴシック"/>
              </a:rPr>
              <a:t>まずは1台、試してみましょう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B5A70"/>
                </a:solidFill>
                <a:latin typeface="游ゴシック"/>
              </a:rPr>
              <a:t>流れはこの6ステップだけです。慣れれば1台あたり10秒ほどで完了します。</a:t>
            </a:r>
          </a:p>
        </p:txBody>
      </p:sp>
      <p:sp>
        <p:nvSpPr>
          <p:cNvPr id="7" name="Oval 6"/>
          <p:cNvSpPr/>
          <p:nvPr/>
        </p:nvSpPr>
        <p:spPr>
          <a:xfrm>
            <a:off x="1143000" y="2743200"/>
            <a:ext cx="594360" cy="594360"/>
          </a:xfrm>
          <a:prstGeom prst="ellipse">
            <a:avLst/>
          </a:prstGeom>
          <a:solidFill>
            <a:srgbClr val="264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游ゴシック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74720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B5A70"/>
                </a:solidFill>
                <a:latin typeface="游ゴシック"/>
              </a:rPr>
              <a:t>QRコードを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B5A70"/>
                </a:solidFill>
                <a:latin typeface="游ゴシック"/>
              </a:rPr>
              <a:t>読み取る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2788920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DBE1EC"/>
                </a:solidFill>
                <a:latin typeface="游ゴシック"/>
              </a:rPr>
              <a:t>›</a:t>
            </a:r>
          </a:p>
        </p:txBody>
      </p:sp>
      <p:sp>
        <p:nvSpPr>
          <p:cNvPr id="10" name="Oval 9"/>
          <p:cNvSpPr/>
          <p:nvPr/>
        </p:nvSpPr>
        <p:spPr>
          <a:xfrm>
            <a:off x="2697480" y="2743200"/>
            <a:ext cx="594360" cy="594360"/>
          </a:xfrm>
          <a:prstGeom prst="ellipse">
            <a:avLst/>
          </a:prstGeom>
          <a:solidFill>
            <a:srgbClr val="264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游ゴシック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3474720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B5A70"/>
                </a:solidFill>
                <a:latin typeface="游ゴシック"/>
              </a:rPr>
              <a:t>支店名を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B5A70"/>
                </a:solidFill>
                <a:latin typeface="游ゴシック"/>
              </a:rPr>
              <a:t>確認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788920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DBE1EC"/>
                </a:solidFill>
                <a:latin typeface="游ゴシック"/>
              </a:rPr>
              <a:t>›</a:t>
            </a:r>
          </a:p>
        </p:txBody>
      </p:sp>
      <p:sp>
        <p:nvSpPr>
          <p:cNvPr id="13" name="Oval 12"/>
          <p:cNvSpPr/>
          <p:nvPr/>
        </p:nvSpPr>
        <p:spPr>
          <a:xfrm>
            <a:off x="4251960" y="2743200"/>
            <a:ext cx="594360" cy="594360"/>
          </a:xfrm>
          <a:prstGeom prst="ellipse">
            <a:avLst/>
          </a:prstGeom>
          <a:solidFill>
            <a:srgbClr val="264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游ゴシック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3474720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B5A70"/>
                </a:solidFill>
                <a:latin typeface="游ゴシック"/>
              </a:rPr>
              <a:t>処理を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B5A70"/>
                </a:solidFill>
                <a:latin typeface="游ゴシック"/>
              </a:rPr>
              <a:t>選ぶ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2788920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DBE1EC"/>
                </a:solidFill>
                <a:latin typeface="游ゴシック"/>
              </a:rPr>
              <a:t>›</a:t>
            </a:r>
          </a:p>
        </p:txBody>
      </p:sp>
      <p:sp>
        <p:nvSpPr>
          <p:cNvPr id="16" name="Oval 15"/>
          <p:cNvSpPr/>
          <p:nvPr/>
        </p:nvSpPr>
        <p:spPr>
          <a:xfrm>
            <a:off x="5806440" y="2743200"/>
            <a:ext cx="594360" cy="594360"/>
          </a:xfrm>
          <a:prstGeom prst="ellipse">
            <a:avLst/>
          </a:prstGeom>
          <a:solidFill>
            <a:srgbClr val="264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游ゴシック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474720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B5A70"/>
                </a:solidFill>
                <a:latin typeface="游ゴシック"/>
              </a:rPr>
              <a:t>バーコードを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B5A70"/>
                </a:solidFill>
                <a:latin typeface="游ゴシック"/>
              </a:rPr>
              <a:t>読み取る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788920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DBE1EC"/>
                </a:solidFill>
                <a:latin typeface="游ゴシック"/>
              </a:rPr>
              <a:t>›</a:t>
            </a:r>
          </a:p>
        </p:txBody>
      </p:sp>
      <p:sp>
        <p:nvSpPr>
          <p:cNvPr id="19" name="Oval 18"/>
          <p:cNvSpPr/>
          <p:nvPr/>
        </p:nvSpPr>
        <p:spPr>
          <a:xfrm>
            <a:off x="7360920" y="2743200"/>
            <a:ext cx="594360" cy="594360"/>
          </a:xfrm>
          <a:prstGeom prst="ellipse">
            <a:avLst/>
          </a:prstGeom>
          <a:solidFill>
            <a:srgbClr val="264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游ゴシック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474720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B5A70"/>
                </a:solidFill>
                <a:latin typeface="游ゴシック"/>
              </a:rPr>
              <a:t>まとめて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B5A70"/>
                </a:solidFill>
                <a:latin typeface="游ゴシック"/>
              </a:rPr>
              <a:t>実行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2788920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DBE1EC"/>
                </a:solidFill>
                <a:latin typeface="游ゴシック"/>
              </a:rPr>
              <a:t>›</a:t>
            </a:r>
          </a:p>
        </p:txBody>
      </p:sp>
      <p:sp>
        <p:nvSpPr>
          <p:cNvPr id="22" name="Oval 21"/>
          <p:cNvSpPr/>
          <p:nvPr/>
        </p:nvSpPr>
        <p:spPr>
          <a:xfrm>
            <a:off x="8915400" y="2743200"/>
            <a:ext cx="594360" cy="594360"/>
          </a:xfrm>
          <a:prstGeom prst="ellipse">
            <a:avLst/>
          </a:prstGeom>
          <a:solidFill>
            <a:srgbClr val="264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游ゴシック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474720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B5A70"/>
                </a:solidFill>
                <a:latin typeface="游ゴシック"/>
              </a:rPr>
              <a:t>結果を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B5A70"/>
                </a:solidFill>
                <a:latin typeface="游ゴシック"/>
              </a:rPr>
              <a:t>確認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389120"/>
            <a:ext cx="7315200" cy="822960"/>
          </a:xfrm>
          <a:prstGeom prst="roundRect">
            <a:avLst>
              <a:gd name="adj" fmla="val 8000"/>
            </a:avLst>
          </a:prstGeom>
          <a:solidFill>
            <a:srgbClr val="EBEEF5"/>
          </a:solidFill>
          <a:ln w="9525">
            <a:solidFill>
              <a:srgbClr val="DB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4592" bIns="164592"/>
          <a:lstStyle/>
          <a:p>
            <a:pPr algn="ctr">
              <a:lnSpc>
                <a:spcPct val="130000"/>
              </a:lnSpc>
            </a:pPr>
            <a:r>
              <a:rPr sz="1250">
                <a:solidFill>
                  <a:srgbClr val="4B5A70"/>
                </a:solidFill>
                <a:latin typeface="游ゴシック"/>
              </a:rPr>
              <a:t>操作方法でご不明な点があれば、UDS開発担当までお問い合わせください。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