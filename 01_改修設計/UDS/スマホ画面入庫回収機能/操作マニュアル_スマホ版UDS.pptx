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8" r:id="rId19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85800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64D8B"/>
                </a:solidFill>
                <a:latin typeface="游ゴシック"/>
              </a:rPr>
              <a:t>USEN NEXT HOLDINGS ／ UDS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172233"/>
                </a:solidFill>
                <a:latin typeface="游ゴシック"/>
              </a:rPr>
              <a:t>スマホ版UDS 操作マニュアル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4B5A70"/>
                </a:solidFill>
                <a:latin typeface="游ゴシック"/>
              </a:rPr>
              <a:t>支店在庫の入庫処理と端末回収登録を、PCを開かずスマホだけでその場で完結させるための手順書です。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A70"/>
                </a:solidFill>
                <a:latin typeface="游ゴシック"/>
              </a:rPr>
              <a:t>対象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7316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233"/>
                </a:solidFill>
                <a:latin typeface="游ゴシック"/>
              </a:rPr>
              <a:t>支店の担当者（誰でも操作可）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805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A70"/>
                </a:solidFill>
                <a:latin typeface="游ゴシック"/>
              </a:rPr>
              <a:t>所要時間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77316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233"/>
                </a:solidFill>
                <a:latin typeface="游ゴシック"/>
              </a:rPr>
              <a:t>端末1台あたり約10秒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4805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A70"/>
                </a:solidFill>
                <a:latin typeface="游ゴシック"/>
              </a:rPr>
              <a:t>必要なもの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7316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233"/>
                </a:solidFill>
                <a:latin typeface="游ゴシック"/>
              </a:rPr>
              <a:t>社用iPhone・VPN接続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はじめに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PCを開かずに、その場で終わらせる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B5A70"/>
                </a:solidFill>
                <a:latin typeface="游ゴシック"/>
              </a:rPr>
              <a:t>これまでの支店在庫入庫は、担当者が帰社してからUDSにログインし、1台ずつバーコードを読み取る夜間作業でした。スマホ版UDSなら、荷物を受け取ったその場で、誰でもスマホから処理できます。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4160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EA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入庫処理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233"/>
                </a:solidFill>
                <a:latin typeface="游ゴシック"/>
              </a:rPr>
              <a:t>支店在庫入庫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A70"/>
                </a:solidFill>
                <a:latin typeface="游ゴシック"/>
              </a:rPr>
              <a:t>支店に届いた端末を、まとめてバーコードスキャン→一括で入庫登録。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3192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4160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端末回収登録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6634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233"/>
                </a:solidFill>
                <a:latin typeface="游ゴシック"/>
              </a:rPr>
              <a:t>回収済み登録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16636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A70"/>
                </a:solidFill>
                <a:latin typeface="游ゴシック"/>
              </a:rPr>
              <a:t>回収依頼が出ている端末を、その場でスキャンして回収済みに更新。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はじめる前に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3つだけ準備してください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98755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212848"/>
            <a:ext cx="457200" cy="457200"/>
          </a:xfrm>
          <a:prstGeom prst="ellipse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游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93392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233"/>
                </a:solidFill>
                <a:latin typeface="游ゴシック"/>
              </a:rPr>
              <a:t>社用iPhoneでVPN（AnyConnect）に接続する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95728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A70"/>
                </a:solidFill>
                <a:latin typeface="游ゴシック"/>
              </a:rPr>
              <a:t>社内ネットワークに接続していないと、スマホ版UDSにアクセスできません。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98755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675888"/>
            <a:ext cx="457200" cy="457200"/>
          </a:xfrm>
          <a:prstGeom prst="ellipse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游ゴシック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456432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233"/>
                </a:solidFill>
                <a:latin typeface="游ゴシック"/>
              </a:rPr>
              <a:t>支店に掲示されたQRコードを用意する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858768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A70"/>
                </a:solidFill>
                <a:latin typeface="游ゴシック"/>
              </a:rPr>
              <a:t>QRコードは支店ごとに専用です。他支店のQRコードは絶対に使用しないでください。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98755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138928"/>
            <a:ext cx="457200" cy="457200"/>
          </a:xfrm>
          <a:prstGeom prst="ellipse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游ゴシック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919472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233"/>
                </a:solidFill>
                <a:latin typeface="游ゴシック"/>
              </a:rPr>
              <a:t>対象端末を手元に用意する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321808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A70"/>
                </a:solidFill>
                <a:latin typeface="游ゴシック"/>
              </a:rPr>
              <a:t>入庫する端末、または回収する端末の外箱・本体のバーコードが読み取れる状態にしておきます。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STEP 1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QRコードを読み取る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B5A70"/>
                </a:solidFill>
                <a:latin typeface="游ゴシック"/>
              </a:rPr>
              <a:t>支店に掲示されているQRコードを、iPhoneのカメラで読み取ります。表示された通知（リンク）をタップすると、スマホ版UDSが開きます。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B5A70"/>
                </a:solidFill>
                <a:latin typeface="游ゴシック"/>
              </a:rPr>
              <a:t>・ログインは不要です。QRコードを読み取るだけでアクセスできます。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B5A70"/>
                </a:solidFill>
                <a:latin typeface="游ゴシック"/>
              </a:rPr>
              <a:t>・ブックマークせず、毎回QRコードから開くようにしてください。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377440"/>
            <a:ext cx="1828800" cy="1828800"/>
          </a:xfrm>
          <a:prstGeom prst="roundRect">
            <a:avLst>
              <a:gd name="adj" fmla="val 12000"/>
            </a:avLst>
          </a:prstGeom>
          <a:solidFill>
            <a:srgbClr val="17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9016" y="2514600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50808" y="2514600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61704" y="2514600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39912" y="2825496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3136392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3136392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39912" y="3136392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50808" y="3136392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61704" y="3136392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3447288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39912" y="3447288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50808" y="3447288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3447288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3758184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39912" y="3758184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50808" y="3758184"/>
            <a:ext cx="256032" cy="256032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2880360"/>
            <a:ext cx="548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6FDB"/>
                </a:solidFill>
                <a:latin typeface="游ゴシック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7000" y="2194560"/>
            <a:ext cx="1188720" cy="2194560"/>
          </a:xfrm>
          <a:prstGeom prst="roundRect">
            <a:avLst>
              <a:gd name="adj" fmla="val 18000"/>
            </a:avLst>
          </a:prstGeom>
          <a:solidFill>
            <a:srgbClr val="17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60152" y="2286000"/>
            <a:ext cx="1042415" cy="2011680"/>
          </a:xfrm>
          <a:prstGeom prst="roundRect">
            <a:avLst>
              <a:gd name="adj" fmla="val 16000"/>
            </a:avLst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0152" y="3063240"/>
            <a:ext cx="1042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172233"/>
                </a:solidFill>
                <a:latin typeface="游ゴシック"/>
              </a:rPr>
              <a:t>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STEP 2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支店名を確認する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B5A70"/>
                </a:solidFill>
                <a:latin typeface="游ゴシック"/>
              </a:rPr>
              <a:t>画面に表示された支店名が、いま自分がいる支店と一致しているか、必ず確認してください。一致していれば「入庫処理」または「端末回収登録」に進みます。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4632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EBEEF5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lnSpc>
                <a:spcPct val="130000"/>
              </a:lnSpc>
            </a:pPr>
            <a:r>
              <a:rPr b="1" sz="1300">
                <a:solidFill>
                  <a:srgbClr val="C97A16"/>
                </a:solidFill>
                <a:latin typeface="游ゴシック"/>
              </a:rPr>
              <a:t>支店名が表示されずエラーになったら
</a:t>
            </a:r>
            <a:r>
              <a:rPr sz="1250">
                <a:solidFill>
                  <a:srgbClr val="4B5A70"/>
                </a:solidFill>
                <a:latin typeface="游ゴシック"/>
              </a:rPr>
              <a:t>QRコードが読み取れていないか、無効なコードです。QRコードを読み直しても解消しない場合は、開発担当に連絡してください。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777240"/>
            <a:ext cx="2651760" cy="5120640"/>
          </a:xfrm>
          <a:prstGeom prst="roundRect">
            <a:avLst>
              <a:gd name="adj" fmla="val 12000"/>
            </a:avLst>
          </a:prstGeom>
          <a:solidFill>
            <a:srgbClr val="17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46136" y="859536"/>
            <a:ext cx="2487168" cy="4956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46136" y="859536"/>
            <a:ext cx="2487168" cy="777240"/>
          </a:xfrm>
          <a:prstGeom prst="rect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0" y="102412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</a:rPr>
              <a:t>UDS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6136" y="1956816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B5A70"/>
                </a:solidFill>
                <a:latin typeface="游ゴシック"/>
              </a:rPr>
              <a:t>支店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2203704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72233"/>
                </a:solidFill>
                <a:latin typeface="游ゴシック"/>
              </a:rPr>
              <a:t>東京南支店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29016" y="2825496"/>
            <a:ext cx="2121408" cy="0"/>
          </a:xfrm>
          <a:prstGeom prst="line">
            <a:avLst/>
          </a:prstGeom>
          <a:ln>
            <a:solidFill>
              <a:srgbClr val="DB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46136" y="2962656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B5A70"/>
                </a:solidFill>
                <a:latin typeface="游ゴシック"/>
              </a:rPr>
              <a:t>処理を選択してください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3465576"/>
            <a:ext cx="2029968" cy="502920"/>
          </a:xfrm>
          <a:prstGeom prst="roundRect">
            <a:avLst>
              <a:gd name="adj" fmla="val 50000"/>
            </a:avLst>
          </a:prstGeom>
          <a:solidFill>
            <a:srgbClr val="0EA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</a:rPr>
              <a:t>入庫処理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4105656"/>
            <a:ext cx="2029968" cy="502920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</a:rPr>
              <a:t>端末回収登録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STEP 3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どちらの処理か選ぶ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1031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EA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緑ボタン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72233"/>
                </a:solidFill>
                <a:latin typeface="游ゴシック"/>
              </a:rPr>
              <a:t>入庫処理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B5A70"/>
                </a:solidFill>
                <a:latin typeface="游ゴシック"/>
              </a:rPr>
              <a:t>支店に届いた端末を在庫として登録する、または新設出荷された端末を設置完了として登録する処理です。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" y="5120640"/>
            <a:ext cx="4572000" cy="0"/>
          </a:xfrm>
          <a:prstGeom prst="line">
            <a:avLst/>
          </a:prstGeom>
          <a:ln>
            <a:solidFill>
              <a:srgbClr val="DB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52578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72233"/>
                </a:solidFill>
                <a:latin typeface="游ゴシック"/>
              </a:rPr>
              <a:t>対象：支店在庫出庫・通常新設出庫ステータスの端末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29400" y="21031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青ボタン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517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72233"/>
                </a:solidFill>
                <a:latin typeface="游ゴシック"/>
              </a:rPr>
              <a:t>端末回収登録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004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B5A70"/>
                </a:solidFill>
                <a:latin typeface="游ゴシック"/>
              </a:rPr>
              <a:t>すでに回収依頼が出ている端末を、回収済みステータスに更新する処理です。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5120640"/>
            <a:ext cx="4572000" cy="0"/>
          </a:xfrm>
          <a:prstGeom prst="line">
            <a:avLst/>
          </a:prstGeom>
          <a:ln>
            <a:solidFill>
              <a:srgbClr val="DB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29400" y="52578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72233"/>
                </a:solidFill>
                <a:latin typeface="游ゴシック"/>
              </a:rPr>
              <a:t>対象：回収依頼中・回収不可ステータスの端末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STEP 4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端末のバーコードを読み取る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B5A70"/>
                </a:solidFill>
                <a:latin typeface="游ゴシック"/>
              </a:rPr>
              <a:t>「バーコードを読み取る」をタップしてカメラを起動し、端末のバーコードにかざします。読み取れると振動して一覧に追加されるので、複数台ある場合は続けて読み取ってください。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B5A70"/>
                </a:solidFill>
                <a:latin typeface="游ゴシック"/>
              </a:rPr>
              <a:t>・同じ端末を2回読み取ると「すでに読み取り済みです」と表示され、追加されません。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B5A70"/>
                </a:solidFill>
                <a:latin typeface="游ゴシック"/>
              </a:rPr>
              <a:t>・読み間違えた場合は、一覧の「✕」で1件だけ削除できます。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B5A70"/>
                </a:solidFill>
                <a:latin typeface="游ゴシック"/>
              </a:rPr>
              <a:t>・バーコードにピントが合わないときは、少し距離を離すか明るい場所で試してください。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B5A70"/>
                </a:solidFill>
                <a:latin typeface="游ゴシック"/>
              </a:rPr>
              <a:t>・小型のバーコード等でカメラが読み取りにくい場合は、画面上部で「バーコード」を選ぶとBluetoothスキャナーで読み取れます（次ページ参照）。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777240"/>
            <a:ext cx="2651760" cy="5120640"/>
          </a:xfrm>
          <a:prstGeom prst="roundRect">
            <a:avLst>
              <a:gd name="adj" fmla="val 12000"/>
            </a:avLst>
          </a:prstGeom>
          <a:solidFill>
            <a:srgbClr val="17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46136" y="859536"/>
            <a:ext cx="2487168" cy="4956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46136" y="859536"/>
            <a:ext cx="2487168" cy="777240"/>
          </a:xfrm>
          <a:prstGeom prst="rect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969264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游ゴシック"/>
              </a:rPr>
              <a:t>‹ 戻る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游ゴシック"/>
              </a:rPr>
              <a:t>東京南支店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游ゴシック"/>
              </a:rPr>
              <a:t>入庫処理</a:t>
            </a:r>
          </a:p>
        </p:txBody>
      </p:sp>
      <p:sp>
        <p:nvSpPr>
          <p:cNvPr id="12" name="Oval 11"/>
          <p:cNvSpPr/>
          <p:nvPr/>
        </p:nvSpPr>
        <p:spPr>
          <a:xfrm>
            <a:off x="8805672" y="1819656"/>
            <a:ext cx="768096" cy="768096"/>
          </a:xfrm>
          <a:prstGeom prst="ellipse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2642616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B5A70"/>
                </a:solidFill>
                <a:latin typeface="游ゴシック"/>
              </a:rPr>
              <a:t>バーコードを読み取る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305409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B5A70"/>
                </a:solidFill>
                <a:latin typeface="游ゴシック"/>
              </a:rPr>
              <a:t>読み取り済み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3054096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72233"/>
                </a:solidFill>
                <a:latin typeface="游ゴシック"/>
              </a:rPr>
              <a:t>2件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3419856"/>
            <a:ext cx="2121408" cy="384048"/>
          </a:xfrm>
          <a:prstGeom prst="roundRect">
            <a:avLst>
              <a:gd name="adj" fmla="val 3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172233"/>
                </a:solidFill>
                <a:latin typeface="Consolas"/>
              </a:rPr>
              <a:t>URX0425800033        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3877056"/>
            <a:ext cx="2121408" cy="384048"/>
          </a:xfrm>
          <a:prstGeom prst="roundRect">
            <a:avLst>
              <a:gd name="adj" fmla="val 3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172233"/>
                </a:solidFill>
                <a:latin typeface="Consolas"/>
              </a:rPr>
              <a:t>HU211003226              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4562856"/>
            <a:ext cx="2121408" cy="502920"/>
          </a:xfrm>
          <a:prstGeom prst="roundRect">
            <a:avLst>
              <a:gd name="adj" fmla="val 50000"/>
            </a:avLst>
          </a:prstGeom>
          <a:solidFill>
            <a:srgbClr val="0EA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入庫処理する（2件）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STEP 4 補足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バーコードスキャナーを使う場合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B5A70"/>
                </a:solidFill>
                <a:latin typeface="游ゴシック"/>
              </a:rPr>
              <a:t>画面上部の切り替えボタンで「バーコード」を選ぶと、Bluetoothバーコードスキャナー（BUSICOM BC-BS801D-V2-CW）で読み取れます。小型のバーコードなど、カメラでは読み取りにくい端末に使用してください。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B5A70"/>
                </a:solidFill>
                <a:latin typeface="游ゴシック"/>
              </a:rPr>
              <a:t>・事前に社用iPhoneの「設定」→「Bluetooth」でスキャナーとペアリングしておきます（[SCAN]ボタンを3秒長押しして電源ON→一覧の「BS80+XXXX」を選択）。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B5A70"/>
                </a:solidFill>
                <a:latin typeface="游ゴシック"/>
              </a:rPr>
              <a:t>・iPhoneのキーボード言語を「英語（米国）」に設定してください（メーカー仕様。日本語のままだと正しく読み取れません）。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B5A70"/>
                </a:solidFill>
                <a:latin typeface="游ゴシック"/>
              </a:rPr>
              <a:t>・ペアリング済みであれば、入力欄をタップする必要はありません。「バーコード」選択中にスキャナーでそのまま読み取ってください。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B5A70"/>
                </a:solidFill>
                <a:latin typeface="游ゴシック"/>
              </a:rPr>
              <a:t>・初期設定は「同期送信」モードのため、スキャナーとiPhoneのBluetoothが切れた状態（支店の外に離れた等）で読み取るとデータが失われます。支店内で使用してください。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777240"/>
            <a:ext cx="2651760" cy="5120640"/>
          </a:xfrm>
          <a:prstGeom prst="roundRect">
            <a:avLst>
              <a:gd name="adj" fmla="val 12000"/>
            </a:avLst>
          </a:prstGeom>
          <a:solidFill>
            <a:srgbClr val="17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46136" y="859536"/>
            <a:ext cx="2487168" cy="4956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46136" y="859536"/>
            <a:ext cx="2487168" cy="777240"/>
          </a:xfrm>
          <a:prstGeom prst="rect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969264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游ゴシック"/>
              </a:rPr>
              <a:t>‹ 戻る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游ゴシック"/>
              </a:rPr>
              <a:t>東京南支店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游ゴシック"/>
              </a:rPr>
              <a:t>入庫処理</a:t>
            </a:r>
          </a:p>
        </p:txBody>
      </p:sp>
      <p:sp>
        <p:nvSpPr>
          <p:cNvPr id="12" name="Oval 11"/>
          <p:cNvSpPr/>
          <p:nvPr/>
        </p:nvSpPr>
        <p:spPr>
          <a:xfrm>
            <a:off x="8805672" y="1819656"/>
            <a:ext cx="768096" cy="768096"/>
          </a:xfrm>
          <a:prstGeom prst="ellipse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2642616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B5A70"/>
                </a:solidFill>
                <a:latin typeface="游ゴシック"/>
              </a:rPr>
              <a:t>スキャナーで読み取り待機中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305409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B5A70"/>
                </a:solidFill>
                <a:latin typeface="游ゴシック"/>
              </a:rPr>
              <a:t>読み取り済み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3054096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72233"/>
                </a:solidFill>
                <a:latin typeface="游ゴシック"/>
              </a:rPr>
              <a:t>2件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3419856"/>
            <a:ext cx="2121408" cy="384048"/>
          </a:xfrm>
          <a:prstGeom prst="roundRect">
            <a:avLst>
              <a:gd name="adj" fmla="val 3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172233"/>
                </a:solidFill>
                <a:latin typeface="Consolas"/>
              </a:rPr>
              <a:t>URX0425800033        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3877056"/>
            <a:ext cx="2121408" cy="384048"/>
          </a:xfrm>
          <a:prstGeom prst="roundRect">
            <a:avLst>
              <a:gd name="adj" fmla="val 3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172233"/>
                </a:solidFill>
                <a:latin typeface="Consolas"/>
              </a:rPr>
              <a:t>HU211003226              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4562856"/>
            <a:ext cx="2121408" cy="502920"/>
          </a:xfrm>
          <a:prstGeom prst="roundRect">
            <a:avLst>
              <a:gd name="adj" fmla="val 50000"/>
            </a:avLst>
          </a:prstGeom>
          <a:solidFill>
            <a:srgbClr val="0EA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入庫処理する（2件）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STEP 5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まとめて1回で実行する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B5A70"/>
                </a:solidFill>
                <a:latin typeface="游ゴシック"/>
              </a:rPr>
              <a:t>読み取った台数分をまとめて、ボタンを1回押すだけで処理が実行されます。1台ずつ確定操作をする必要はありません。ボタンには件数が表示されるので、読み取り漏れがないか確認してから押してくださ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4632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EBEEF5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lnSpc>
                <a:spcPct val="130000"/>
              </a:lnSpc>
            </a:pPr>
            <a:r>
              <a:rPr b="1" sz="1300">
                <a:solidFill>
                  <a:srgbClr val="172233"/>
                </a:solidFill>
                <a:latin typeface="游ゴシック"/>
              </a:rPr>
              <a:t>確認ダイアログは出ません。
</a:t>
            </a:r>
            <a:r>
              <a:rPr sz="1250">
                <a:solidFill>
                  <a:srgbClr val="4B5A70"/>
                </a:solidFill>
                <a:latin typeface="游ゴシック"/>
              </a:rPr>
              <a:t>ボタンを押すとすぐに処理が実行されるため、一覧の内容を確認してからタップしてください。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777240"/>
            <a:ext cx="2651760" cy="5120640"/>
          </a:xfrm>
          <a:prstGeom prst="roundRect">
            <a:avLst>
              <a:gd name="adj" fmla="val 12000"/>
            </a:avLst>
          </a:prstGeom>
          <a:solidFill>
            <a:srgbClr val="17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46136" y="859536"/>
            <a:ext cx="2487168" cy="4956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46136" y="859536"/>
            <a:ext cx="2487168" cy="777240"/>
          </a:xfrm>
          <a:prstGeom prst="rect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969264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游ゴシック"/>
              </a:rPr>
              <a:t>‹ 戻る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游ゴシック"/>
              </a:rPr>
              <a:t>東京南支店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游ゴシック"/>
              </a:rPr>
              <a:t>入庫処理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6" y="1911096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B5A70"/>
                </a:solidFill>
                <a:latin typeface="游ゴシック"/>
              </a:rPr>
              <a:t>読み取り済み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9016" y="1911096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72233"/>
                </a:solidFill>
                <a:latin typeface="游ゴシック"/>
              </a:rPr>
              <a:t>3件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2276856"/>
            <a:ext cx="2121408" cy="365760"/>
          </a:xfrm>
          <a:prstGeom prst="roundRect">
            <a:avLst>
              <a:gd name="adj" fmla="val 3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172233"/>
                </a:solidFill>
                <a:latin typeface="Consolas"/>
              </a:rPr>
              <a:t>URX0425800033        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2697480"/>
            <a:ext cx="2121408" cy="365760"/>
          </a:xfrm>
          <a:prstGeom prst="roundRect">
            <a:avLst>
              <a:gd name="adj" fmla="val 3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172233"/>
                </a:solidFill>
                <a:latin typeface="Consolas"/>
              </a:rPr>
              <a:t>HU211003226              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3118104"/>
            <a:ext cx="2121408" cy="365760"/>
          </a:xfrm>
          <a:prstGeom prst="roundRect">
            <a:avLst>
              <a:gd name="adj" fmla="val 3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172233"/>
                </a:solidFill>
                <a:latin typeface="Consolas"/>
              </a:rPr>
              <a:t>TEST234                     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4288536"/>
            <a:ext cx="2121408" cy="548640"/>
          </a:xfrm>
          <a:prstGeom prst="roundRect">
            <a:avLst>
              <a:gd name="adj" fmla="val 50000"/>
            </a:avLst>
          </a:prstGeom>
          <a:solidFill>
            <a:srgbClr val="0EA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</a:rPr>
              <a:t>入庫処理する（3件）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STEP 6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結果を確認する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B5A70"/>
                </a:solidFill>
                <a:latin typeface="游ゴシック"/>
              </a:rPr>
              <a:t>実行すると、成功・エラーの2パターンで結果が表示されます。成功した分はそのまま確定されるので、エラーの端末だけ確認すれば大丈夫です。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5271516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686" y="2880360"/>
            <a:ext cx="1546311" cy="329184"/>
          </a:xfrm>
          <a:prstGeom prst="roundRect">
            <a:avLst>
              <a:gd name="adj" fmla="val 50000"/>
            </a:avLst>
          </a:prstGeom>
          <a:solidFill>
            <a:srgbClr val="0EA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成功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686" y="3337560"/>
            <a:ext cx="44843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2233"/>
                </a:solidFill>
                <a:latin typeface="游ゴシック"/>
              </a:rPr>
              <a:t>✓ 処理が完了しました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686" y="3977639"/>
            <a:ext cx="448430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A70"/>
                </a:solidFill>
                <a:latin typeface="游ゴシック"/>
              </a:rPr>
              <a:t>読み取った端末の登録が完了しています。特に対応は不要です。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7628" y="2651760"/>
            <a:ext cx="5271516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61234" y="2880360"/>
            <a:ext cx="1546311" cy="329184"/>
          </a:xfrm>
          <a:prstGeom prst="roundRect">
            <a:avLst>
              <a:gd name="adj" fmla="val 50000"/>
            </a:avLst>
          </a:prstGeom>
          <a:solidFill>
            <a:srgbClr val="D84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エラー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1234" y="3337560"/>
            <a:ext cx="44843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2233"/>
                </a:solidFill>
                <a:latin typeface="游ゴシック"/>
              </a:rPr>
              <a:t>⚠ 一部の処理に失敗しました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1234" y="3977639"/>
            <a:ext cx="448430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A70"/>
                </a:solidFill>
                <a:latin typeface="游ゴシック"/>
              </a:rPr>
              <a:t>エラーの端末とメッセージが表示されます。「続けて処理する」で再度スキャンしてやり直せます。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困ったときのリファレンス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エラーメッセージの見方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506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3200400"/>
                <a:gridCol w="2926080"/>
              </a:tblGrid>
              <a:tr h="457200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4B5A70"/>
                          </a:solidFill>
                          <a:latin typeface="游ゴシック"/>
                        </a:rPr>
                        <a:t>表示されるメッセージ</a:t>
                      </a:r>
                    </a:p>
                  </a:txBody>
                  <a:tcPr anchor="ctr"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4B5A70"/>
                          </a:solidFill>
                          <a:latin typeface="游ゴシック"/>
                        </a:rPr>
                        <a:t>主な原因</a:t>
                      </a:r>
                    </a:p>
                  </a:txBody>
                  <a:tcPr anchor="ctr"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4B5A70"/>
                          </a:solidFill>
                          <a:latin typeface="游ゴシック"/>
                        </a:rPr>
                        <a:t>対処方法</a:t>
                      </a:r>
                    </a:p>
                  </a:txBody>
                  <a:tcPr anchor="ctr">
                    <a:solidFill>
                      <a:srgbClr val="EBEE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D8433F"/>
                          </a:solidFill>
                          <a:latin typeface="游ゴシック"/>
                        </a:rPr>
                        <a:t>【エラー】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72233"/>
                          </a:solidFill>
                          <a:latin typeface="游ゴシック"/>
                        </a:rPr>
                        <a:t>端末が存在しません。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バーコードの読み取り間違い、またはシステムに登録のない端末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バーコードを再度読み取る。改善しなければ端末自体を確認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D8433F"/>
                          </a:solidFill>
                          <a:latin typeface="游ゴシック"/>
                        </a:rPr>
                        <a:t>【エラー】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72233"/>
                          </a:solidFill>
                          <a:latin typeface="游ゴシック"/>
                        </a:rPr>
                        <a:t>端末の管轄が異なります。現在の管轄：○○支店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今いる支店とは別の支店の端末を入庫しようとした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端末が正しい支店宛のものか確認する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D8433F"/>
                          </a:solidFill>
                          <a:latin typeface="游ゴシック"/>
                        </a:rPr>
                        <a:t>【エラー】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72233"/>
                          </a:solidFill>
                          <a:latin typeface="游ゴシック"/>
                        </a:rPr>
                        <a:t>端末ステータスが異なります。現在のステータス：○○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端末のステータスが処理対象外（回収依頼が出ていない、顧客出庫中、対象外ステータス等）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PC版で端末の状態・依頼状況を確認。不明な場合は担当者へ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D8433F"/>
                          </a:solidFill>
                          <a:latin typeface="游ゴシック"/>
                        </a:rPr>
                        <a:t>【エラー】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72233"/>
                          </a:solidFill>
                          <a:latin typeface="游ゴシック"/>
                        </a:rPr>
                        <a:t>契約情報が更新されました。お手数ですが、最初からやり直してください。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契約が「受注」ステータスではない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担当者に契約状況を確認してもらう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D8433F"/>
                          </a:solidFill>
                          <a:latin typeface="游ゴシック"/>
                        </a:rPr>
                        <a:t>【エラー】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72233"/>
                          </a:solidFill>
                          <a:latin typeface="游ゴシック"/>
                        </a:rPr>
                        <a:t>依頼が存在しません。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回収登録で、対象の回収依頼が起票されていない端末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PC版で依頼状況を確認。不明な場合は担当者へ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D8433F"/>
                          </a:solidFill>
                          <a:latin typeface="游ゴシック"/>
                        </a:rPr>
                        <a:t>【エラー】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72233"/>
                          </a:solidFill>
                          <a:latin typeface="游ゴシック"/>
                        </a:rPr>
                        <a:t>端末ステータスが異なります。現在のステータス：キャンセル返却予定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契約がすでにキャンセルされ、返却待ちとなっている端末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処理対象外です。返却方法を担当者に確認してください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D8433F"/>
                          </a:solidFill>
                          <a:latin typeface="游ゴシック"/>
                        </a:rPr>
                        <a:t>【エラー】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72233"/>
                          </a:solidFill>
                          <a:latin typeface="游ゴシック"/>
                        </a:rPr>
                        <a:t>入庫処理に失敗しました。／回収済み登録に失敗しました。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通信状況やシステム側の一時的な問題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4B5A70"/>
                          </a:solidFill>
                          <a:latin typeface="游ゴシック"/>
                        </a:rPr>
                        <a:t>少し時間をおいて再実行。繰り返す場合は開発担当へ連絡</a:t>
                      </a:r>
                    </a:p>
                  </a:txBody>
                  <a:tcPr anchor="ctr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運用上の注意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これだけは守ってください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98755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212848"/>
            <a:ext cx="457200" cy="457200"/>
          </a:xfrm>
          <a:prstGeom prst="ellipse">
            <a:avLst/>
          </a:prstGeom>
          <a:solidFill>
            <a:srgbClr val="C9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93392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233"/>
                </a:solidFill>
                <a:latin typeface="游ゴシック"/>
              </a:rPr>
              <a:t>QRコードは支店ごとに専用です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95728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A70"/>
                </a:solidFill>
                <a:latin typeface="游ゴシック"/>
              </a:rPr>
              <a:t>他支店のQRコードを使うと、別支店の端末として処理されてしまいます。必ず自分の支店のQRコードを使用してください。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98755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675888"/>
            <a:ext cx="457200" cy="457200"/>
          </a:xfrm>
          <a:prstGeom prst="ellipse">
            <a:avLst/>
          </a:prstGeom>
          <a:solidFill>
            <a:srgbClr val="C9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456432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233"/>
                </a:solidFill>
                <a:latin typeface="游ゴシック"/>
              </a:rPr>
              <a:t>VPN接続を切らない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858768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A70"/>
                </a:solidFill>
                <a:latin typeface="游ゴシック"/>
              </a:rPr>
              <a:t>AnyConnectが切断されると画面が表示できなくなります。作業中は接続状態を保ってください。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98755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138928"/>
            <a:ext cx="457200" cy="457200"/>
          </a:xfrm>
          <a:prstGeom prst="ellipse">
            <a:avLst/>
          </a:prstGeom>
          <a:solidFill>
            <a:srgbClr val="C9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919472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233"/>
                </a:solidFill>
                <a:latin typeface="游ゴシック"/>
              </a:rPr>
              <a:t>カメラの使用を許可する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321808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A70"/>
                </a:solidFill>
                <a:latin typeface="游ゴシック"/>
              </a:rPr>
              <a:t>初回アクセス時にカメラの許可を求められたら「許可」を選んでください。拒否するとバーコードを読み取れません。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92608" cy="1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6FDB"/>
                </a:solidFill>
                <a:latin typeface="游ゴシック"/>
              </a:rPr>
              <a:t>最後に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33"/>
                </a:solidFill>
                <a:latin typeface="游ゴシック"/>
              </a:rPr>
              <a:t>まずは1台、試してみましょう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B5A70"/>
                </a:solidFill>
                <a:latin typeface="游ゴシック"/>
              </a:rPr>
              <a:t>流れはこの6ステップだけです。慣れれば1台あたり10秒ほどで完了します。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743200"/>
            <a:ext cx="594360" cy="594360"/>
          </a:xfrm>
          <a:prstGeom prst="ellipse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游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QRコードを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読み取る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7889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DBE1EC"/>
                </a:solidFill>
                <a:latin typeface="游ゴシック"/>
              </a:rPr>
              <a:t>›</a:t>
            </a:r>
          </a:p>
        </p:txBody>
      </p:sp>
      <p:sp>
        <p:nvSpPr>
          <p:cNvPr id="10" name="Oval 9"/>
          <p:cNvSpPr/>
          <p:nvPr/>
        </p:nvSpPr>
        <p:spPr>
          <a:xfrm>
            <a:off x="2697480" y="2743200"/>
            <a:ext cx="594360" cy="594360"/>
          </a:xfrm>
          <a:prstGeom prst="ellipse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游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47472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支店名を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889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DBE1EC"/>
                </a:solidFill>
                <a:latin typeface="游ゴシック"/>
              </a:rPr>
              <a:t>›</a:t>
            </a:r>
          </a:p>
        </p:txBody>
      </p:sp>
      <p:sp>
        <p:nvSpPr>
          <p:cNvPr id="13" name="Oval 12"/>
          <p:cNvSpPr/>
          <p:nvPr/>
        </p:nvSpPr>
        <p:spPr>
          <a:xfrm>
            <a:off x="4251960" y="2743200"/>
            <a:ext cx="594360" cy="594360"/>
          </a:xfrm>
          <a:prstGeom prst="ellipse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游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47472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処理を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選ぶ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7889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DBE1EC"/>
                </a:solidFill>
                <a:latin typeface="游ゴシック"/>
              </a:rPr>
              <a:t>›</a:t>
            </a:r>
          </a:p>
        </p:txBody>
      </p:sp>
      <p:sp>
        <p:nvSpPr>
          <p:cNvPr id="16" name="Oval 15"/>
          <p:cNvSpPr/>
          <p:nvPr/>
        </p:nvSpPr>
        <p:spPr>
          <a:xfrm>
            <a:off x="5806440" y="2743200"/>
            <a:ext cx="594360" cy="594360"/>
          </a:xfrm>
          <a:prstGeom prst="ellipse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游ゴシック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7472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バーコードを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読み取る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889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DBE1EC"/>
                </a:solidFill>
                <a:latin typeface="游ゴシック"/>
              </a:rPr>
              <a:t>›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2743200"/>
            <a:ext cx="594360" cy="594360"/>
          </a:xfrm>
          <a:prstGeom prst="ellipse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游ゴシック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7472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まとめて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実行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7889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DBE1EC"/>
                </a:solidFill>
                <a:latin typeface="游ゴシック"/>
              </a:rPr>
              <a:t>›</a:t>
            </a:r>
          </a:p>
        </p:txBody>
      </p:sp>
      <p:sp>
        <p:nvSpPr>
          <p:cNvPr id="22" name="Oval 21"/>
          <p:cNvSpPr/>
          <p:nvPr/>
        </p:nvSpPr>
        <p:spPr>
          <a:xfrm>
            <a:off x="8915400" y="2743200"/>
            <a:ext cx="594360" cy="594360"/>
          </a:xfrm>
          <a:prstGeom prst="ellipse">
            <a:avLst/>
          </a:prstGeom>
          <a:solidFill>
            <a:srgbClr val="264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游ゴシック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7472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結果を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B5A70"/>
                </a:solidFill>
                <a:latin typeface="游ゴシック"/>
              </a:rPr>
              <a:t>確認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89120"/>
            <a:ext cx="7315200" cy="822960"/>
          </a:xfrm>
          <a:prstGeom prst="roundRect">
            <a:avLst>
              <a:gd name="adj" fmla="val 8000"/>
            </a:avLst>
          </a:prstGeom>
          <a:solidFill>
            <a:srgbClr val="EBEEF5"/>
          </a:solidFill>
          <a:ln w="9525">
            <a:solidFill>
              <a:srgbClr val="DB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lnSpc>
                <a:spcPct val="130000"/>
              </a:lnSpc>
            </a:pPr>
            <a:r>
              <a:rPr sz="1250">
                <a:solidFill>
                  <a:srgbClr val="4B5A70"/>
                </a:solidFill>
                <a:latin typeface="游ゴシック"/>
              </a:rPr>
              <a:t>操作方法でご不明な点があれば、UDS開発担当までお問い合わせください。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